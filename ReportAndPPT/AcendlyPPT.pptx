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0" r:id="rId3"/>
    <p:sldMasterId id="214748365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6858000" cx="9144000"/>
  <p:notesSz cx="7559675" cy="106918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 txBox="1"/>
          <p:nvPr>
            <p:ph idx="3"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" name="Google Shape;6;n"/>
          <p:cNvSpPr txBox="1"/>
          <p:nvPr>
            <p:ph idx="10" type="dt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I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:notes"/>
          <p:cNvSpPr/>
          <p:nvPr>
            <p:ph idx="2" type="sldImg"/>
          </p:nvPr>
        </p:nvSpPr>
        <p:spPr>
          <a:xfrm>
            <a:off x="1374840" y="1336680"/>
            <a:ext cx="4809600" cy="3607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1" name="Google Shape;51;p1:notes"/>
          <p:cNvSpPr txBox="1"/>
          <p:nvPr>
            <p:ph idx="1" type="body"/>
          </p:nvPr>
        </p:nvSpPr>
        <p:spPr>
          <a:xfrm>
            <a:off x="755640" y="5145120"/>
            <a:ext cx="6048000" cy="4209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16000" lvl="0" marL="21600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1:notes"/>
          <p:cNvSpPr txBox="1"/>
          <p:nvPr>
            <p:ph idx="12" type="sldNum"/>
          </p:nvPr>
        </p:nvSpPr>
        <p:spPr>
          <a:xfrm>
            <a:off x="4281480" y="10155240"/>
            <a:ext cx="3276360" cy="5360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lang="en-IN" sz="1200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200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3" name="Google Shape;53;p1:notes"/>
          <p:cNvSpPr txBox="1"/>
          <p:nvPr>
            <p:ph idx="11" type="ftr"/>
          </p:nvPr>
        </p:nvSpPr>
        <p:spPr>
          <a:xfrm>
            <a:off x="0" y="10155240"/>
            <a:ext cx="3276360" cy="5360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lang="en-IN" sz="1200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Name of the faculty [Group: G00] [Sem:2nd]</a:t>
            </a:r>
            <a:endParaRPr b="0" sz="1200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2:notes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3:notes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4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4:notes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5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5:notes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7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7:notes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8:notes"/>
          <p:cNvSpPr/>
          <p:nvPr>
            <p:ph idx="2" type="sldImg"/>
          </p:nvPr>
        </p:nvSpPr>
        <p:spPr>
          <a:xfrm>
            <a:off x="1374840" y="1336680"/>
            <a:ext cx="4809600" cy="3607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9" name="Google Shape;89;p8:notes"/>
          <p:cNvSpPr txBox="1"/>
          <p:nvPr>
            <p:ph idx="1" type="body"/>
          </p:nvPr>
        </p:nvSpPr>
        <p:spPr>
          <a:xfrm>
            <a:off x="755640" y="5145120"/>
            <a:ext cx="6048000" cy="4209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16000" lvl="0" marL="21600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8:notes"/>
          <p:cNvSpPr txBox="1"/>
          <p:nvPr>
            <p:ph idx="11" type="ftr"/>
          </p:nvPr>
        </p:nvSpPr>
        <p:spPr>
          <a:xfrm>
            <a:off x="0" y="10155240"/>
            <a:ext cx="3276360" cy="5360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lang="en-IN" sz="1200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Name of the faculty [Group: G00] [Sem:2nd]</a:t>
            </a:r>
            <a:endParaRPr b="0" sz="1200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1" name="Google Shape;91;p8:notes"/>
          <p:cNvSpPr txBox="1"/>
          <p:nvPr>
            <p:ph idx="12" type="sldNum"/>
          </p:nvPr>
        </p:nvSpPr>
        <p:spPr>
          <a:xfrm>
            <a:off x="4281480" y="10155240"/>
            <a:ext cx="3276360" cy="5360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lang="en-IN" sz="1200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sz="1200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9:notes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0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0:notes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2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12:notes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3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13:notes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4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14:notes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4"/>
          <p:cNvSpPr txBox="1"/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4"/>
          <p:cNvSpPr txBox="1"/>
          <p:nvPr>
            <p:ph idx="1"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jpg"/><Relationship Id="rId3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jpg"/><Relationship Id="rId3" Type="http://schemas.openxmlformats.org/officeDocument/2006/relationships/slideLayout" Target="../slideLayouts/slideLayout2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/>
          <p:nvPr/>
        </p:nvSpPr>
        <p:spPr>
          <a:xfrm>
            <a:off x="0" y="0"/>
            <a:ext cx="9143280" cy="837360"/>
          </a:xfrm>
          <a:prstGeom prst="rect">
            <a:avLst/>
          </a:prstGeom>
          <a:solidFill>
            <a:srgbClr val="FF3300"/>
          </a:solid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1"/>
          <p:cNvSpPr/>
          <p:nvPr/>
        </p:nvSpPr>
        <p:spPr>
          <a:xfrm flipH="1" rot="10800000">
            <a:off x="0" y="6704640"/>
            <a:ext cx="9143280" cy="19728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OGO.gif" id="12" name="Google Shape;12;p1"/>
          <p:cNvPicPr preferRelativeResize="0"/>
          <p:nvPr/>
        </p:nvPicPr>
        <p:blipFill rotWithShape="1">
          <a:blip r:embed="rId1">
            <a:alphaModFix/>
          </a:blip>
          <a:srcRect b="10714" l="0" r="0" t="0"/>
          <a:stretch/>
        </p:blipFill>
        <p:spPr>
          <a:xfrm>
            <a:off x="6553080" y="228600"/>
            <a:ext cx="2056680" cy="6343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.gif" id="13" name="Google Shape;13;p1"/>
          <p:cNvPicPr preferRelativeResize="0"/>
          <p:nvPr/>
        </p:nvPicPr>
        <p:blipFill rotWithShape="1">
          <a:blip r:embed="rId1">
            <a:alphaModFix/>
          </a:blip>
          <a:srcRect b="10714" l="0" r="0" t="0"/>
          <a:stretch/>
        </p:blipFill>
        <p:spPr>
          <a:xfrm>
            <a:off x="6553080" y="228600"/>
            <a:ext cx="2056680" cy="63432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1"/>
          <p:cNvGrpSpPr/>
          <p:nvPr/>
        </p:nvGrpSpPr>
        <p:grpSpPr>
          <a:xfrm>
            <a:off x="6146640" y="0"/>
            <a:ext cx="2996640" cy="875520"/>
            <a:chOff x="6146640" y="0"/>
            <a:chExt cx="2996640" cy="875520"/>
          </a:xfrm>
        </p:grpSpPr>
        <p:sp>
          <p:nvSpPr>
            <p:cNvPr id="15" name="Google Shape;15;p1"/>
            <p:cNvSpPr/>
            <p:nvPr/>
          </p:nvSpPr>
          <p:spPr>
            <a:xfrm>
              <a:off x="6146640" y="0"/>
              <a:ext cx="2996640" cy="837360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anchorCtr="0" anchor="t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LOGO.gif" id="16" name="Google Shape;16;p1"/>
            <p:cNvPicPr preferRelativeResize="0"/>
            <p:nvPr/>
          </p:nvPicPr>
          <p:blipFill rotWithShape="1">
            <a:blip r:embed="rId1">
              <a:alphaModFix/>
            </a:blip>
            <a:srcRect b="10714" l="0" r="0" t="0"/>
            <a:stretch/>
          </p:blipFill>
          <p:spPr>
            <a:xfrm>
              <a:off x="6553080" y="228600"/>
              <a:ext cx="2056680" cy="63432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" name="Google Shape;17;p1"/>
            <p:cNvSpPr/>
            <p:nvPr/>
          </p:nvSpPr>
          <p:spPr>
            <a:xfrm>
              <a:off x="6527880" y="190440"/>
              <a:ext cx="2075760" cy="68508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logo.jpg" id="18" name="Google Shape;18;p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53080" y="228600"/>
            <a:ext cx="1920240" cy="6087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.gif" id="19" name="Google Shape;19;p1"/>
          <p:cNvPicPr preferRelativeResize="0"/>
          <p:nvPr/>
        </p:nvPicPr>
        <p:blipFill rotWithShape="1">
          <a:blip r:embed="rId1">
            <a:alphaModFix/>
          </a:blip>
          <a:srcRect b="10714" l="0" r="0" t="0"/>
          <a:stretch/>
        </p:blipFill>
        <p:spPr>
          <a:xfrm>
            <a:off x="6553080" y="228600"/>
            <a:ext cx="2056680" cy="63432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" name="Google Shape;20;p1"/>
          <p:cNvGrpSpPr/>
          <p:nvPr/>
        </p:nvGrpSpPr>
        <p:grpSpPr>
          <a:xfrm>
            <a:off x="6146640" y="0"/>
            <a:ext cx="2996640" cy="875520"/>
            <a:chOff x="6146640" y="0"/>
            <a:chExt cx="2996640" cy="875520"/>
          </a:xfrm>
        </p:grpSpPr>
        <p:sp>
          <p:nvSpPr>
            <p:cNvPr id="21" name="Google Shape;21;p1"/>
            <p:cNvSpPr/>
            <p:nvPr/>
          </p:nvSpPr>
          <p:spPr>
            <a:xfrm>
              <a:off x="6146640" y="0"/>
              <a:ext cx="2996640" cy="837360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anchorCtr="0" anchor="t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LOGO.gif" id="22" name="Google Shape;22;p1"/>
            <p:cNvPicPr preferRelativeResize="0"/>
            <p:nvPr/>
          </p:nvPicPr>
          <p:blipFill rotWithShape="1">
            <a:blip r:embed="rId1">
              <a:alphaModFix/>
            </a:blip>
            <a:srcRect b="10714" l="0" r="0" t="0"/>
            <a:stretch/>
          </p:blipFill>
          <p:spPr>
            <a:xfrm>
              <a:off x="6553080" y="228600"/>
              <a:ext cx="2056680" cy="63432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" name="Google Shape;23;p1"/>
            <p:cNvSpPr/>
            <p:nvPr/>
          </p:nvSpPr>
          <p:spPr>
            <a:xfrm>
              <a:off x="6527880" y="190440"/>
              <a:ext cx="2075760" cy="68508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logo.jpg" id="24" name="Google Shape;24;p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53080" y="228600"/>
            <a:ext cx="1920240" cy="608760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1"/>
          <p:cNvSpPr txBox="1"/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6" name="Google Shape;26;p1"/>
          <p:cNvSpPr txBox="1"/>
          <p:nvPr>
            <p:ph idx="1"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3"/>
          <p:cNvSpPr/>
          <p:nvPr/>
        </p:nvSpPr>
        <p:spPr>
          <a:xfrm>
            <a:off x="0" y="0"/>
            <a:ext cx="9143280" cy="837360"/>
          </a:xfrm>
          <a:prstGeom prst="rect">
            <a:avLst/>
          </a:prstGeom>
          <a:solidFill>
            <a:srgbClr val="FF3300"/>
          </a:solid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3"/>
          <p:cNvSpPr/>
          <p:nvPr/>
        </p:nvSpPr>
        <p:spPr>
          <a:xfrm flipH="1" rot="10800000">
            <a:off x="0" y="6704640"/>
            <a:ext cx="9143280" cy="19728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OGO.gif" id="31" name="Google Shape;31;p3"/>
          <p:cNvPicPr preferRelativeResize="0"/>
          <p:nvPr/>
        </p:nvPicPr>
        <p:blipFill rotWithShape="1">
          <a:blip r:embed="rId1">
            <a:alphaModFix/>
          </a:blip>
          <a:srcRect b="10714" l="0" r="0" t="0"/>
          <a:stretch/>
        </p:blipFill>
        <p:spPr>
          <a:xfrm>
            <a:off x="6553080" y="228600"/>
            <a:ext cx="2056680" cy="6343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.gif" id="32" name="Google Shape;32;p3"/>
          <p:cNvPicPr preferRelativeResize="0"/>
          <p:nvPr/>
        </p:nvPicPr>
        <p:blipFill rotWithShape="1">
          <a:blip r:embed="rId1">
            <a:alphaModFix/>
          </a:blip>
          <a:srcRect b="10714" l="0" r="0" t="0"/>
          <a:stretch/>
        </p:blipFill>
        <p:spPr>
          <a:xfrm>
            <a:off x="6553080" y="228600"/>
            <a:ext cx="2056680" cy="63432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3" name="Google Shape;33;p3"/>
          <p:cNvGrpSpPr/>
          <p:nvPr/>
        </p:nvGrpSpPr>
        <p:grpSpPr>
          <a:xfrm>
            <a:off x="6146640" y="0"/>
            <a:ext cx="2996640" cy="875520"/>
            <a:chOff x="6146640" y="0"/>
            <a:chExt cx="2996640" cy="875520"/>
          </a:xfrm>
        </p:grpSpPr>
        <p:sp>
          <p:nvSpPr>
            <p:cNvPr id="34" name="Google Shape;34;p3"/>
            <p:cNvSpPr/>
            <p:nvPr/>
          </p:nvSpPr>
          <p:spPr>
            <a:xfrm>
              <a:off x="6146640" y="0"/>
              <a:ext cx="2996640" cy="837360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anchorCtr="0" anchor="t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LOGO.gif" id="35" name="Google Shape;35;p3"/>
            <p:cNvPicPr preferRelativeResize="0"/>
            <p:nvPr/>
          </p:nvPicPr>
          <p:blipFill rotWithShape="1">
            <a:blip r:embed="rId1">
              <a:alphaModFix/>
            </a:blip>
            <a:srcRect b="10714" l="0" r="0" t="0"/>
            <a:stretch/>
          </p:blipFill>
          <p:spPr>
            <a:xfrm>
              <a:off x="6553080" y="228600"/>
              <a:ext cx="2056680" cy="63432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" name="Google Shape;36;p3"/>
            <p:cNvSpPr/>
            <p:nvPr/>
          </p:nvSpPr>
          <p:spPr>
            <a:xfrm>
              <a:off x="6527880" y="190440"/>
              <a:ext cx="2075760" cy="68508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logo.jpg" id="37" name="Google Shape;37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53080" y="228600"/>
            <a:ext cx="1920240" cy="6087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.gif" id="38" name="Google Shape;38;p3"/>
          <p:cNvPicPr preferRelativeResize="0"/>
          <p:nvPr/>
        </p:nvPicPr>
        <p:blipFill rotWithShape="1">
          <a:blip r:embed="rId1">
            <a:alphaModFix/>
          </a:blip>
          <a:srcRect b="10714" l="0" r="0" t="0"/>
          <a:stretch/>
        </p:blipFill>
        <p:spPr>
          <a:xfrm>
            <a:off x="6553080" y="228600"/>
            <a:ext cx="2056680" cy="63432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9" name="Google Shape;39;p3"/>
          <p:cNvGrpSpPr/>
          <p:nvPr/>
        </p:nvGrpSpPr>
        <p:grpSpPr>
          <a:xfrm>
            <a:off x="6146640" y="0"/>
            <a:ext cx="2996640" cy="875520"/>
            <a:chOff x="6146640" y="0"/>
            <a:chExt cx="2996640" cy="875520"/>
          </a:xfrm>
        </p:grpSpPr>
        <p:sp>
          <p:nvSpPr>
            <p:cNvPr id="40" name="Google Shape;40;p3"/>
            <p:cNvSpPr/>
            <p:nvPr/>
          </p:nvSpPr>
          <p:spPr>
            <a:xfrm>
              <a:off x="6146640" y="0"/>
              <a:ext cx="2996640" cy="837360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anchorCtr="0" anchor="t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LOGO.gif" id="41" name="Google Shape;41;p3"/>
            <p:cNvPicPr preferRelativeResize="0"/>
            <p:nvPr/>
          </p:nvPicPr>
          <p:blipFill rotWithShape="1">
            <a:blip r:embed="rId1">
              <a:alphaModFix/>
            </a:blip>
            <a:srcRect b="10714" l="0" r="0" t="0"/>
            <a:stretch/>
          </p:blipFill>
          <p:spPr>
            <a:xfrm>
              <a:off x="6553080" y="228600"/>
              <a:ext cx="2056680" cy="63432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3"/>
            <p:cNvSpPr/>
            <p:nvPr/>
          </p:nvSpPr>
          <p:spPr>
            <a:xfrm>
              <a:off x="6527880" y="190440"/>
              <a:ext cx="2075760" cy="68508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logo.jpg" id="43" name="Google Shape;43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53080" y="228600"/>
            <a:ext cx="1920240" cy="608760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3"/>
          <p:cNvSpPr txBox="1"/>
          <p:nvPr>
            <p:ph type="title"/>
          </p:nvPr>
        </p:nvSpPr>
        <p:spPr>
          <a:xfrm>
            <a:off x="0" y="0"/>
            <a:ext cx="5485680" cy="913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5" name="Google Shape;45;p3"/>
          <p:cNvSpPr txBox="1"/>
          <p:nvPr>
            <p:ph idx="1"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5"/>
          <p:cNvSpPr/>
          <p:nvPr/>
        </p:nvSpPr>
        <p:spPr>
          <a:xfrm>
            <a:off x="462275" y="1258375"/>
            <a:ext cx="8145000" cy="522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100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Presentation of CO-OP Project at Industry (Module-2) (22CS421)</a:t>
            </a:r>
            <a:endParaRPr b="1" sz="2100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I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AI-Powered Offline Code Analysis and Optimization System</a:t>
            </a:r>
            <a:endParaRPr b="0" sz="20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br>
              <a:rPr lang="en-IN" sz="2000">
                <a:latin typeface="Arial"/>
                <a:ea typeface="Arial"/>
                <a:cs typeface="Arial"/>
                <a:sym typeface="Arial"/>
              </a:rPr>
            </a:br>
            <a:r>
              <a:rPr b="1" lang="en-IN" sz="2000">
                <a:latin typeface="Times New Roman"/>
                <a:ea typeface="Times New Roman"/>
                <a:cs typeface="Times New Roman"/>
                <a:sym typeface="Times New Roman"/>
              </a:rPr>
              <a:t>Uddeshya Singh</a:t>
            </a:r>
            <a:r>
              <a:rPr b="1" lang="en-IN" sz="2000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(221099</a:t>
            </a:r>
            <a:r>
              <a:rPr b="1" lang="en-IN" sz="2000">
                <a:latin typeface="Times New Roman"/>
                <a:ea typeface="Times New Roman"/>
                <a:cs typeface="Times New Roman"/>
                <a:sym typeface="Times New Roman"/>
              </a:rPr>
              <a:t>2475</a:t>
            </a:r>
            <a:r>
              <a:rPr b="1" lang="en-IN" sz="2000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b="1" sz="2000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400"/>
              </a:spcBef>
              <a:spcAft>
                <a:spcPts val="0"/>
              </a:spcAft>
              <a:buNone/>
            </a:pPr>
            <a:r>
              <a:rPr b="1" lang="en-I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Suvogyan Chakraborty (2210992429)</a:t>
            </a:r>
            <a:endParaRPr b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I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Diganta Mitra (2210991514)</a:t>
            </a:r>
            <a:endParaRPr b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lang="en-IN" sz="2000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Supervised By</a:t>
            </a:r>
            <a:endParaRPr b="0" sz="20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en-IN" sz="1800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Dr. Monika Aggarwal</a:t>
            </a:r>
            <a:endParaRPr b="0" sz="20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lang="en-IN" sz="1700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Computer Science and Engineering, </a:t>
            </a:r>
            <a:endParaRPr b="0" sz="17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lang="en-IN" sz="1700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Chitkara University, Punjab</a:t>
            </a:r>
            <a:endParaRPr b="0" sz="17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6"/>
          <p:cNvSpPr txBox="1"/>
          <p:nvPr>
            <p:ph type="title"/>
          </p:nvPr>
        </p:nvSpPr>
        <p:spPr>
          <a:xfrm>
            <a:off x="260025" y="0"/>
            <a:ext cx="2408400" cy="91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IN" sz="3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OUTLINE</a:t>
            </a:r>
            <a:endParaRPr sz="3200">
              <a:solidFill>
                <a:schemeClr val="dk1"/>
              </a:solidFill>
            </a:endParaRPr>
          </a:p>
        </p:txBody>
      </p:sp>
      <p:sp>
        <p:nvSpPr>
          <p:cNvPr id="61" name="Google Shape;61;p6"/>
          <p:cNvSpPr txBox="1"/>
          <p:nvPr>
            <p:ph idx="4294967295" type="subTitle"/>
          </p:nvPr>
        </p:nvSpPr>
        <p:spPr>
          <a:xfrm>
            <a:off x="457200" y="1188000"/>
            <a:ext cx="6031800" cy="44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457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AutoNum type="arabicPeriod"/>
            </a:pPr>
            <a:r>
              <a:rPr i="0" lang="en-IN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 </a:t>
            </a:r>
            <a:endParaRPr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7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AutoNum type="arabicPeriod"/>
            </a:pPr>
            <a:r>
              <a:rPr i="0" lang="en-IN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Identification </a:t>
            </a:r>
            <a:endParaRPr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7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AutoNum type="arabicPeriod"/>
            </a:pPr>
            <a:r>
              <a:rPr i="0" lang="en-IN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Literature Review </a:t>
            </a:r>
            <a:endParaRPr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7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AutoNum type="arabicPeriod"/>
            </a:pPr>
            <a:r>
              <a:rPr i="0" lang="en-IN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Algorithms Discussed </a:t>
            </a:r>
            <a:endParaRPr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7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AutoNum type="arabicPeriod"/>
            </a:pPr>
            <a:r>
              <a:rPr i="0" lang="en-IN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Proposed Methodology </a:t>
            </a:r>
            <a:endParaRPr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7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AutoNum type="arabicPeriod"/>
            </a:pPr>
            <a:r>
              <a:rPr i="0" lang="en-IN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Results and Discussion </a:t>
            </a:r>
            <a:endParaRPr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7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AutoNum type="arabicPeriod"/>
            </a:pPr>
            <a:r>
              <a:rPr i="0" lang="en-IN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 </a:t>
            </a:r>
            <a:endParaRPr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7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AutoNum type="arabicPeriod"/>
            </a:pPr>
            <a:r>
              <a:rPr i="0" lang="en-IN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References </a:t>
            </a:r>
            <a:endParaRPr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7"/>
          <p:cNvSpPr/>
          <p:nvPr/>
        </p:nvSpPr>
        <p:spPr>
          <a:xfrm>
            <a:off x="442150" y="21473"/>
            <a:ext cx="3513600" cy="83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3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 b="1" sz="3200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7" name="Google Shape;67;p7"/>
          <p:cNvSpPr/>
          <p:nvPr/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-IN" sz="120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sz="12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7"/>
          <p:cNvSpPr/>
          <p:nvPr/>
        </p:nvSpPr>
        <p:spPr>
          <a:xfrm>
            <a:off x="442150" y="987475"/>
            <a:ext cx="8244000" cy="494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2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397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Noto Sans Symbols"/>
              <a:buChar char="∙"/>
            </a:pPr>
            <a:r>
              <a:rPr b="1" lang="en-I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 Overview:</a:t>
            </a:r>
            <a:r>
              <a:rPr lang="en-I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The project introduces an AI-powered code analyzer designed to operate entirely offline on a local machine without connecting to external servers.</a:t>
            </a:r>
            <a:endParaRPr sz="2200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2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397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Noto Sans Symbols"/>
              <a:buChar char="∙"/>
            </a:pPr>
            <a:r>
              <a:rPr b="1" lang="en-I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Analytical Approach: </a:t>
            </a:r>
            <a:r>
              <a:rPr lang="en-I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system evaluates code by treating it as a pattern recognition and constraint evaluation problem, moving away from traditional static rule-based engines.</a:t>
            </a:r>
            <a:r>
              <a:rPr b="0" lang="en-IN" sz="2200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endParaRPr b="0" sz="22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2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397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Noto Sans Symbols"/>
              <a:buChar char="∙"/>
            </a:pPr>
            <a:r>
              <a:rPr b="1" lang="en-I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Core Technologies:</a:t>
            </a:r>
            <a:r>
              <a:rPr lang="en-I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It utilizes local Large Language Models (LLMs) combined with advanced vector embeddings to develop a deep semantic understanding of the code's logic.</a:t>
            </a:r>
            <a:endParaRPr sz="2200"/>
          </a:p>
          <a:p>
            <a:pPr indent="-1397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Noto Sans Symbols"/>
              <a:buChar char="∙"/>
            </a:pPr>
            <a:r>
              <a:t/>
            </a:r>
            <a:endParaRPr sz="2200"/>
          </a:p>
          <a:p>
            <a:pPr indent="-1397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Noto Sans Symbols"/>
              <a:buChar char="∙"/>
            </a:pPr>
            <a:r>
              <a:rPr b="1" lang="en-IN" sz="2200">
                <a:latin typeface="Times New Roman"/>
                <a:ea typeface="Times New Roman"/>
                <a:cs typeface="Times New Roman"/>
                <a:sym typeface="Times New Roman"/>
              </a:rPr>
              <a:t>Architecture &amp; Environment:</a:t>
            </a:r>
            <a:r>
              <a:rPr lang="en-IN" sz="2200">
                <a:latin typeface="Times New Roman"/>
                <a:ea typeface="Times New Roman"/>
                <a:cs typeface="Times New Roman"/>
                <a:sym typeface="Times New Roman"/>
              </a:rPr>
              <a:t> Built with high-performance parsing tools and technologies like Rust, FastAPI and .NET.</a:t>
            </a:r>
            <a:r>
              <a:rPr lang="en-IN" sz="2200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˙</a:t>
            </a:r>
            <a:endParaRPr sz="2200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8"/>
          <p:cNvSpPr/>
          <p:nvPr/>
        </p:nvSpPr>
        <p:spPr>
          <a:xfrm>
            <a:off x="495725" y="970925"/>
            <a:ext cx="8130900" cy="50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2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397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Noto Sans Symbols"/>
              <a:buChar char="∙"/>
            </a:pPr>
            <a:r>
              <a:rPr lang="en-I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Existing code analysis tools rely heavily on manual inspection, which is time-consuming and error-prone.</a:t>
            </a:r>
            <a:endParaRPr b="0" sz="22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2200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0" sz="22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397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Noto Sans Symbols"/>
              <a:buChar char="∙"/>
            </a:pPr>
            <a:r>
              <a:rPr lang="en-I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Traditional static analysis tools lack deep understanding of </a:t>
            </a:r>
            <a:r>
              <a:rPr b="1" lang="en-I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code logic</a:t>
            </a:r>
            <a:r>
              <a:rPr lang="en-I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often miss complex issues like </a:t>
            </a:r>
            <a:r>
              <a:rPr b="1" lang="en-I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logical inconsistencies</a:t>
            </a:r>
            <a:r>
              <a:rPr lang="en-I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race conditions.</a:t>
            </a:r>
            <a:endParaRPr b="0" sz="22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2200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0" sz="22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397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Noto Sans Symbols"/>
              <a:buChar char="∙"/>
            </a:pPr>
            <a:r>
              <a:rPr lang="en-I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Many modern tools are </a:t>
            </a:r>
            <a:r>
              <a:rPr b="1" lang="en-I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cloud-dependent</a:t>
            </a:r>
            <a:r>
              <a:rPr lang="en-I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leading to: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Noto Sans Symbols"/>
              <a:buAutoNum type="arabicPeriod"/>
            </a:pPr>
            <a:r>
              <a:rPr lang="en-I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Latency due to network calls 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Noto Sans Symbols"/>
              <a:buAutoNum type="arabicPeriod"/>
            </a:pPr>
            <a:r>
              <a:rPr lang="en-I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Dependency on stable internet connectivity</a:t>
            </a:r>
            <a:endParaRPr b="0" sz="22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2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397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Noto Sans Symbols"/>
              <a:buChar char="∙"/>
            </a:pPr>
            <a:r>
              <a:rPr lang="en-I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privacy and security risks arise when proprietary or sensitive code is sent to external servers for analysis.</a:t>
            </a:r>
            <a:endParaRPr b="0" sz="22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2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8"/>
          <p:cNvSpPr txBox="1"/>
          <p:nvPr>
            <p:ph type="title"/>
          </p:nvPr>
        </p:nvSpPr>
        <p:spPr>
          <a:xfrm>
            <a:off x="373675" y="167050"/>
            <a:ext cx="5850600" cy="52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IN" sz="3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IDENTIFICATION</a:t>
            </a: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9"/>
          <p:cNvSpPr txBox="1"/>
          <p:nvPr>
            <p:ph type="title"/>
          </p:nvPr>
        </p:nvSpPr>
        <p:spPr>
          <a:xfrm>
            <a:off x="201600" y="0"/>
            <a:ext cx="4975500" cy="91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IN" sz="3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LITERATURE REVIEW</a:t>
            </a: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0" name="Google Shape;80;p9"/>
          <p:cNvSpPr/>
          <p:nvPr/>
        </p:nvSpPr>
        <p:spPr>
          <a:xfrm>
            <a:off x="475200" y="0"/>
            <a:ext cx="8164800" cy="637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200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Previous Research Highlights:</a:t>
            </a:r>
            <a:endParaRPr b="0" sz="22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397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Noto Sans Symbols"/>
              <a:buChar char="∙"/>
            </a:pPr>
            <a:r>
              <a:rPr b="0" lang="en-IN" sz="2200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Conventional static analyzers (e.g., linters) are rule-based, focusing on syntax and style rather than deep semantic understanding.</a:t>
            </a:r>
            <a:endParaRPr b="0" sz="22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2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200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Research Gap:</a:t>
            </a:r>
            <a:endParaRPr b="0" sz="22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397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Noto Sans Symbols"/>
              <a:buChar char="∙"/>
            </a:pPr>
            <a:r>
              <a:rPr lang="en-I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Detecting logical bugs and runtime issues 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397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Noto Sans Symbols"/>
              <a:buChar char="∙"/>
            </a:pPr>
            <a:r>
              <a:rPr lang="en-I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Handling large-scale modern codebases 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397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Noto Sans Symbols"/>
              <a:buChar char="∙"/>
            </a:pPr>
            <a:r>
              <a:rPr lang="en-I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Providing real-time intelligent suggestions</a:t>
            </a:r>
            <a:endParaRPr b="0" sz="22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2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2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2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0"/>
          <p:cNvSpPr txBox="1"/>
          <p:nvPr>
            <p:ph type="title"/>
          </p:nvPr>
        </p:nvSpPr>
        <p:spPr>
          <a:xfrm>
            <a:off x="245875" y="0"/>
            <a:ext cx="4910700" cy="91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IN" sz="3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ALGORITHM DESIGN</a:t>
            </a: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6" name="Google Shape;86;p10"/>
          <p:cNvSpPr/>
          <p:nvPr/>
        </p:nvSpPr>
        <p:spPr>
          <a:xfrm>
            <a:off x="434125" y="1116000"/>
            <a:ext cx="7647900" cy="511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TECH 1. Rust (Core Parsing &amp; High-Performance Layer)</a:t>
            </a:r>
            <a:endParaRPr b="1"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AutoNum type="arabicPeriod"/>
            </a:pPr>
            <a:r>
              <a:rPr lang="en-I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Fast and memory-safe code parsing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AutoNum type="arabicPeriod"/>
            </a:pPr>
            <a:r>
              <a:rPr lang="en-I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AST generation and semantic summarization 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AutoNum type="arabicPeriod"/>
            </a:pPr>
            <a:r>
              <a:rPr lang="en-I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High-performance local processing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I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TECH 2. Python (AI, Vectorization &amp; Database Layer)</a:t>
            </a:r>
            <a:endParaRPr b="1"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AutoNum type="arabicPeriod"/>
            </a:pPr>
            <a:r>
              <a:rPr lang="en-I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Generate embeddings for code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AutoNum type="arabicPeriod"/>
            </a:pPr>
            <a:r>
              <a:rPr lang="en-I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Perform semantic analysis using AI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AutoNum type="arabicPeriod"/>
            </a:pPr>
            <a:r>
              <a:rPr lang="en-I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Store and query vectorized code patterns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TECH 3. C# / .NET (API Gateway &amp; System Orchestration)</a:t>
            </a:r>
            <a:endParaRPr b="1"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AutoNum type="arabicPeriod"/>
            </a:pPr>
            <a:r>
              <a:rPr lang="en-I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Coordinate communication between Rust and Python services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AutoNum type="arabicPeriod"/>
            </a:pPr>
            <a:r>
              <a:rPr lang="en-I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Provide centralized backend and API gateway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AutoNum type="arabicPeriod"/>
            </a:pPr>
            <a:r>
              <a:rPr lang="en-I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Enable integration with IDEs and external tools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2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1"/>
          <p:cNvSpPr txBox="1"/>
          <p:nvPr>
            <p:ph type="title"/>
          </p:nvPr>
        </p:nvSpPr>
        <p:spPr>
          <a:xfrm>
            <a:off x="196550" y="0"/>
            <a:ext cx="6274200" cy="91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IN" sz="3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PROPOSED METHODOLOGY</a:t>
            </a: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4" name="Google Shape;94;p11"/>
          <p:cNvSpPr/>
          <p:nvPr/>
        </p:nvSpPr>
        <p:spPr>
          <a:xfrm>
            <a:off x="516250" y="1032525"/>
            <a:ext cx="8090100" cy="54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 WORKFLOW:</a:t>
            </a:r>
            <a:endParaRPr b="1"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AutoNum type="arabicPeriod"/>
            </a:pPr>
            <a:r>
              <a:rPr lang="en-I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Code Input Acquisition 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AutoNum type="arabicPeriod"/>
            </a:pPr>
            <a:r>
              <a:rPr lang="en-I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Parsing &amp; AST Generation Semantic Summarization \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AutoNum type="arabicPeriod"/>
            </a:pPr>
            <a:r>
              <a:rPr lang="en-I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Tokenization &amp; Preprocessing 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AutoNum type="arabicPeriod"/>
            </a:pPr>
            <a:r>
              <a:rPr lang="en-I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Vector Embedding 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AutoNum type="arabicPeriod"/>
            </a:pPr>
            <a:r>
              <a:rPr lang="en-I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Similarity Matching &amp; Retrieval 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AutoNum type="arabicPeriod"/>
            </a:pPr>
            <a:r>
              <a:rPr lang="en-I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Constraint Evaluation 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AutoNum type="arabicPeriod"/>
            </a:pPr>
            <a:r>
              <a:rPr lang="en-I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Pattern Contribution 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AutoNum type="arabicPeriod"/>
            </a:pPr>
            <a:r>
              <a:rPr lang="en-I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Analysis Deviation Scoring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AutoNum type="arabicPeriod"/>
            </a:pPr>
            <a:r>
              <a:rPr lang="en-I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Issue Detection &amp; Classification Optimization Suggestion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200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</a:t>
            </a:r>
            <a:r>
              <a:rPr b="1" lang="en-I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BJECTIVE: </a:t>
            </a:r>
            <a:endParaRPr b="0" sz="22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develop an AI-powered offline system that analyzes, detects, and optimizes code efficiently while ensuring privacy, low latency, and real-time feedback.</a:t>
            </a:r>
            <a:endParaRPr b="0" sz="22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2"/>
          <p:cNvSpPr txBox="1"/>
          <p:nvPr>
            <p:ph type="title"/>
          </p:nvPr>
        </p:nvSpPr>
        <p:spPr>
          <a:xfrm>
            <a:off x="201600" y="0"/>
            <a:ext cx="6310200" cy="91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IN" sz="3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PROPOSED SYSTEM DESIGN</a:t>
            </a: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0" name="Google Shape;100;p12"/>
          <p:cNvSpPr/>
          <p:nvPr/>
        </p:nvSpPr>
        <p:spPr>
          <a:xfrm>
            <a:off x="487800" y="1083425"/>
            <a:ext cx="8655900" cy="487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 DESIGN</a:t>
            </a:r>
            <a:endParaRPr b="1"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AutoNum type="arabicPeriod"/>
            </a:pPr>
            <a:r>
              <a:rPr lang="en-I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Code Input Interface 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AutoNum type="arabicPeriod"/>
            </a:pPr>
            <a:r>
              <a:rPr lang="en-I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Rust-Based Parsing Engine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AutoNum type="arabicPeriod"/>
            </a:pPr>
            <a:r>
              <a:rPr lang="en-I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Abstract Syntax Tree (AST) Generator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AutoNum type="arabicPeriod"/>
            </a:pPr>
            <a:r>
              <a:rPr lang="en-I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Semantic Summarization Module 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AutoNum type="arabicPeriod"/>
            </a:pPr>
            <a:r>
              <a:rPr lang="en-I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Python Vectorization 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AutoNum type="arabicPeriod"/>
            </a:pPr>
            <a:r>
              <a:rPr lang="en-I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Service Embedding 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AutoNum type="arabicPeriod"/>
            </a:pPr>
            <a:r>
              <a:rPr lang="en-I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Generation Engine 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AutoNum type="arabicPeriod"/>
            </a:pPr>
            <a:r>
              <a:rPr lang="en-I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Vector Database (PostgreSQL + pgvector) 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AutoNum type="arabicPeriod"/>
            </a:pPr>
            <a:r>
              <a:rPr lang="en-I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Local LLM Inference Engine (Ollama) 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AutoNum type="arabicPeriod"/>
            </a:pPr>
            <a:r>
              <a:rPr lang="en-I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Constraint Evaluation Engine 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AutoNum type="arabicPeriod"/>
            </a:pPr>
            <a:r>
              <a:rPr lang="en-I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API Gateway (.NET / ASP.NET Core)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3"/>
          <p:cNvSpPr txBox="1"/>
          <p:nvPr>
            <p:ph type="title"/>
          </p:nvPr>
        </p:nvSpPr>
        <p:spPr>
          <a:xfrm>
            <a:off x="265325" y="0"/>
            <a:ext cx="6063300" cy="91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IN" sz="3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RESULTS &amp; PERFORMANCE</a:t>
            </a: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6" name="Google Shape;106;p13"/>
          <p:cNvSpPr/>
          <p:nvPr/>
        </p:nvSpPr>
        <p:spPr>
          <a:xfrm>
            <a:off x="487800" y="1101400"/>
            <a:ext cx="7819800" cy="53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RESULTS:</a:t>
            </a:r>
            <a:endParaRPr b="1"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AutoNum type="arabicPeriod"/>
            </a:pPr>
            <a:r>
              <a:rPr lang="en-I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Code Input Interface 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AutoNum type="arabicPeriod"/>
            </a:pPr>
            <a:r>
              <a:rPr lang="en-I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Achieved a complete end-to-end workflow: </a:t>
            </a:r>
            <a:r>
              <a:rPr b="1" lang="en-I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Rust → Python → pgvector → .NET </a:t>
            </a:r>
            <a:endParaRPr b="1"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AutoNum type="arabicPeriod"/>
            </a:pPr>
            <a:r>
              <a:rPr lang="en-I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Successfully integrated high-performance parsing (Rust) with AI-based analysis (Python) Implemented efficient semantic embedding and storage using </a:t>
            </a:r>
            <a:r>
              <a:rPr b="1" lang="en-I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PostgreSQL + pgvector </a:t>
            </a:r>
            <a:endParaRPr b="1"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AutoNum type="arabicPeriod"/>
            </a:pPr>
            <a:r>
              <a:rPr lang="en-I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Enabled smooth inter-service communication and orchestration via </a:t>
            </a:r>
            <a:r>
              <a:rPr b="1" lang="en-I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.NET</a:t>
            </a:r>
            <a:r>
              <a:rPr lang="en-I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API layer 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AutoNum type="arabicPeriod"/>
            </a:pPr>
            <a:r>
              <a:rPr lang="en-I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Achieved low-latency local processing without any cloud dependency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AutoNum type="arabicPeriod"/>
            </a:pPr>
            <a:r>
              <a:rPr lang="en-I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Due to the absence of a unified and optimized pipeline, the current system experiences slower processing time.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4"/>
          <p:cNvSpPr/>
          <p:nvPr/>
        </p:nvSpPr>
        <p:spPr>
          <a:xfrm>
            <a:off x="471950" y="1134775"/>
            <a:ext cx="8157000" cy="37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DISCUSSION:</a:t>
            </a:r>
            <a:endParaRPr b="1"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AutoNum type="arabicPeriod"/>
            </a:pPr>
            <a:r>
              <a:rPr lang="en-I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proposed system demonstrates that offline AI-based code analysis is feasible and effective for real-world development scenarios. 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AutoNum type="arabicPeriod"/>
            </a:pPr>
            <a:r>
              <a:rPr lang="en-I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Integrating</a:t>
            </a:r>
            <a:r>
              <a:rPr b="1" lang="en-I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Rust, Python</a:t>
            </a:r>
            <a:r>
              <a:rPr lang="en-I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and</a:t>
            </a:r>
            <a:r>
              <a:rPr b="1" lang="en-I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.NET</a:t>
            </a:r>
            <a:r>
              <a:rPr lang="en-I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creates a balanced architecture combining performance, AI capability, and scalability. 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AutoNum type="arabicPeriod"/>
            </a:pPr>
            <a:r>
              <a:rPr lang="en-I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use of local LLMs and embeddings enables deeper semantic understanding compared to traditional static analysis tools. 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AutoNum type="arabicPeriod"/>
            </a:pPr>
            <a:r>
              <a:rPr lang="en-I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system successfully addresses privacy concerns by eliminating the need for cloud-based processing.</a:t>
            </a:r>
            <a:endParaRPr b="1"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2" name="Google Shape;112;p14"/>
          <p:cNvSpPr txBox="1"/>
          <p:nvPr>
            <p:ph type="title"/>
          </p:nvPr>
        </p:nvSpPr>
        <p:spPr>
          <a:xfrm>
            <a:off x="245875" y="0"/>
            <a:ext cx="3099300" cy="91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IN" sz="3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DISCUSSION</a:t>
            </a: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5"/>
          <p:cNvSpPr txBox="1"/>
          <p:nvPr>
            <p:ph type="title"/>
          </p:nvPr>
        </p:nvSpPr>
        <p:spPr>
          <a:xfrm>
            <a:off x="186850" y="0"/>
            <a:ext cx="3589800" cy="91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IN" sz="3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</a:t>
            </a: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8" name="Google Shape;118;p15"/>
          <p:cNvSpPr/>
          <p:nvPr/>
        </p:nvSpPr>
        <p:spPr>
          <a:xfrm>
            <a:off x="577650" y="1245175"/>
            <a:ext cx="7907700" cy="512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WE ACHIEVED SO FAR: </a:t>
            </a:r>
            <a:endParaRPr b="1"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AutoNum type="arabicPeriod"/>
            </a:pPr>
            <a:r>
              <a:rPr lang="en-I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project presents a novel offline AI-powered code analysis system that overcomes limitations of traditional and cloud-based tools. 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AutoNum type="arabicPeriod"/>
            </a:pPr>
            <a:r>
              <a:rPr lang="en-I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successfully combines high-performance parsing (Rust), AI-driven semantic analysis (Python), and efficient orchestration (.NET) into a unified architecture. 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AutoNum type="arabicPeriod"/>
            </a:pPr>
            <a:r>
              <a:rPr lang="en-I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system demonstrates improved capability in detecting logical errors, vulnerabilities, and performance issues. 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AutoNum type="arabicPeriod"/>
            </a:pPr>
            <a:r>
              <a:rPr lang="en-I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By operating entirely offline, it ensures data privacy, security, and independence from internet connectivity. 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AutoNum type="arabicPeriod"/>
            </a:pPr>
            <a:r>
              <a:rPr lang="en-I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Overall, the project establishes that local-first AI tools can match or exceed cloud-based solutions.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6"/>
          <p:cNvSpPr txBox="1"/>
          <p:nvPr>
            <p:ph type="title"/>
          </p:nvPr>
        </p:nvSpPr>
        <p:spPr>
          <a:xfrm>
            <a:off x="206650" y="0"/>
            <a:ext cx="3677700" cy="91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IN" sz="3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REFERENCES</a:t>
            </a: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4" name="Google Shape;124;p16"/>
          <p:cNvSpPr/>
          <p:nvPr/>
        </p:nvSpPr>
        <p:spPr>
          <a:xfrm>
            <a:off x="110400" y="184850"/>
            <a:ext cx="8518800" cy="645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Char char="∙"/>
            </a:pPr>
            <a:r>
              <a:rPr b="1" lang="en-I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[1]</a:t>
            </a:r>
            <a:r>
              <a:rPr lang="en-I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T. Mens and T. Tourwé, “A Survey of Software Refactoring,” IEEE Transactions on Software Engineering, vol. 30, no. 2, pp. 126–139, 2004. 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Char char="∙"/>
            </a:pPr>
            <a:r>
              <a:rPr b="1" lang="en-I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[2] </a:t>
            </a:r>
            <a:r>
              <a:rPr lang="en-I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M. Fowler, Refactoring: Improving the Design of Existing Code, Addison-Wesley, 2018. 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Char char="∙"/>
            </a:pPr>
            <a:r>
              <a:rPr b="1" lang="en-I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[3] </a:t>
            </a:r>
            <a:r>
              <a:rPr lang="en-I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S. Russell and P. Norvig, Artificial Intelligence: A Modern Approach, 4th ed., Pearson, 2020. \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Char char="∙"/>
            </a:pPr>
            <a:r>
              <a:rPr b="1" lang="en-I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[4] </a:t>
            </a:r>
            <a:r>
              <a:rPr lang="en-I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B. Johnson, Y. Song, E. Murphy-Hill, and R. Bowdidge, “Why Don’t Software Developers Use Static Analysis Tools to Find Bugs?” in Proceedings of the 2013 International Conference on Software Engineering (ICSE), pp. 672–681</a:t>
            </a:r>
            <a:endParaRPr sz="2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